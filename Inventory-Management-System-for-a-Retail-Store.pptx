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embeddedFontLst>
    <p:embeddedFont>
      <p:font typeface="Krona One"/>
      <p:regular r:id="rId201314"/>
    </p:embeddedFont>
    <p:embeddedFont>
      <p:font typeface="Lexend"/>
      <p:regular r:id="rId201315"/>
    </p:embeddedFont>
    <p:embeddedFont>
      <p:font typeface="Lexend Medium"/>
      <p:regular r:id="rId201316"/>
    </p:embeddedFont>
    <p:embeddedFont>
      <p:font typeface="Lexend Bold"/>
      <p:regular r:id="rId201317"/>
    </p:embeddedFont>
    <p:embeddedFont>
      <p:font typeface="Martian Mono Medium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3" Type="http://schemas.openxmlformats.org/officeDocument/2006/relationships/image" Target="../media/image-1002-3.png"/><Relationship Id="rId5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3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1515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2" descr="preencoded.png">
            <a:hlinkClick r:id="rId4" tooltip="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1515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7380" y="1041400"/>
            <a:ext cx="5918052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78" kern="100" dirty="0">
                <a:solidFill>
                  <a:srgbClr val="FFFF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JAVA PROGRAMMING · CASE STUDY 37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87380" y="1363266"/>
            <a:ext cx="5308467" cy="3154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600" spc="-46" kern="100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Inventory Management System</a:t>
            </a:r>
            <a:endParaRPr lang="en-US" sz="46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4600" spc="-46" kern="100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for a Retail Store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787380" y="4822726"/>
            <a:ext cx="5918052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Yatharth Dharmesh Mishra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87380" y="5507236"/>
            <a:ext cx="5308467" cy="693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spc="14" kern="10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Roll No: 150096725055</a:t>
            </a:r>
            <a:endParaRPr lang="en-US" sz="14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400" spc="14" kern="10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B.Tech Computer Science and Engineering · ITM Skills University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78" kern="100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PROJECT 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31466"/>
            <a:ext cx="10972526" cy="817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800" spc="-14" kern="100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A Java desktop app for controlling retail inventory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9585" y="2050852"/>
            <a:ext cx="10972526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Java Swing app manages retail inventory: products, suppliers, purchases, sales, bills, and transaction history.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09585" y="3146822"/>
            <a:ext cx="3454314" cy="2795786"/>
          </a:xfrm>
          <a:prstGeom prst="roundRect">
            <a:avLst>
              <a:gd name="adj" fmla="val 4579"/>
            </a:avLst>
          </a:prstGeom>
          <a:noFill/>
          <a:ln w="38099">
            <a:solidFill>
              <a:srgbClr val="4D4D8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6278" y="3413522"/>
            <a:ext cx="609585" cy="609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76278" y="4200922"/>
            <a:ext cx="2920927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spc="-10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Stock control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76278" y="4750197"/>
            <a:ext cx="2920927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Tracks stock and flags low-stock products.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4368691" y="3146822"/>
            <a:ext cx="3454314" cy="2795786"/>
          </a:xfrm>
          <a:prstGeom prst="roundRect">
            <a:avLst>
              <a:gd name="adj" fmla="val 4579"/>
            </a:avLst>
          </a:prstGeom>
          <a:noFill/>
          <a:ln w="38099">
            <a:solidFill>
              <a:srgbClr val="4D4D84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5384" y="3413522"/>
            <a:ext cx="609585" cy="609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35384" y="4200922"/>
            <a:ext cx="2920927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spc="-10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Billing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4635384" y="4750197"/>
            <a:ext cx="2920927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Calculates 18% GST and generates sales bills.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8127797" y="3146822"/>
            <a:ext cx="3454314" cy="2795786"/>
          </a:xfrm>
          <a:prstGeom prst="roundRect">
            <a:avLst>
              <a:gd name="adj" fmla="val 4579"/>
            </a:avLst>
          </a:prstGeom>
          <a:noFill/>
          <a:ln w="38099">
            <a:solidFill>
              <a:srgbClr val="4D4D84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490" y="3413522"/>
            <a:ext cx="609585" cy="6096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394490" y="4200922"/>
            <a:ext cx="2920927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spc="-10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Storage</a:t>
            </a:r>
            <a:endParaRPr lang="en-US" sz="2000" dirty="0"/>
          </a:p>
        </p:txBody>
      </p:sp>
      <p:sp>
        <p:nvSpPr>
          <p:cNvPr id="16" name="Text 11"/>
          <p:cNvSpPr/>
          <p:nvPr/>
        </p:nvSpPr>
        <p:spPr>
          <a:xfrm>
            <a:off x="8394490" y="4750197"/>
            <a:ext cx="2920927" cy="925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In-memory data keeps the app lightweight, but not persistent.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78" kern="100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ONE CONTROLLED FLOW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31466"/>
            <a:ext cx="10972526" cy="817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800" spc="-14" kern="100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The project turns daily store tasks into one controlled flow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9585" y="2050852"/>
            <a:ext cx="11582110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Each action updates the same operational picture.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09585" y="2614712"/>
            <a:ext cx="3505112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spc="-10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Manage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09585" y="3163987"/>
            <a:ext cx="3505112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Products and supplier information.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419489" y="2614712"/>
            <a:ext cx="3352716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spc="-10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Record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419489" y="3163987"/>
            <a:ext cx="3352716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Purchases and sales.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076998" y="2614712"/>
            <a:ext cx="3505112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spc="-10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Update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076998" y="3163987"/>
            <a:ext cx="3505112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Stock changes automatically.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09585" y="4583906"/>
            <a:ext cx="3505112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spc="-10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Bill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09585" y="5133181"/>
            <a:ext cx="3505112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Sales bills include 18% GST.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419489" y="4583906"/>
            <a:ext cx="3352716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spc="-10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Review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419489" y="5133181"/>
            <a:ext cx="3352716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Search, sort, and inspect history.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076998" y="4583906"/>
            <a:ext cx="3505112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spc="-10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Alert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076998" y="5133181"/>
            <a:ext cx="3505112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Low-stock products are detected.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272084"/>
            <a:ext cx="4084238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78" kern="100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SYSTEM 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1593949"/>
            <a:ext cx="3474653" cy="20444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800" spc="-14" kern="100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Six modules connect through the inventory service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9585" y="3939977"/>
            <a:ext cx="3474653" cy="1645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Each module contributes data or an action to the central inventory flow.</a:t>
            </a:r>
            <a:endParaRPr lang="en-US" sz="2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497" y="1791593"/>
            <a:ext cx="5821614" cy="327471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78" kern="100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APPLICATION FOUNDATION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31466"/>
            <a:ext cx="10972526" cy="817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800" spc="-14" kern="100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Java provides the application layer and its core building blocks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2050852"/>
          <a:ext cx="10972526" cy="914400"/>
        </p:xfrm>
        <a:graphic>
          <a:graphicData uri="http://schemas.openxmlformats.org/drawingml/2006/table">
            <a:tbl>
              <a:tblPr/>
              <a:tblGrid>
                <a:gridCol w="2633398"/>
                <a:gridCol w="8339127"/>
              </a:tblGrid>
              <a:tr h="6741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dirty="0">
                          <a:solidFill>
                            <a:srgbClr val="FFFF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Platform</a:t>
                      </a:r>
                      <a:endParaRPr lang="en-US" sz="24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Java · Java Swing · JDK 8+</a:t>
                      </a:r>
                      <a:endParaRPr lang="en-US" sz="24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41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dirty="0">
                          <a:solidFill>
                            <a:srgbClr val="FFFF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Collections</a:t>
                      </a:r>
                      <a:endParaRPr lang="en-US" sz="24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ArrayList · LinkedList · HashMap · TreeMap · Arrays</a:t>
                      </a:r>
                      <a:endParaRPr lang="en-US" sz="24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85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dirty="0">
                          <a:solidFill>
                            <a:srgbClr val="FFFF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Programming</a:t>
                      </a:r>
                      <a:endParaRPr lang="en-US" sz="24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classes and objects · constructors · CRUD · searching and sorting</a:t>
                      </a:r>
                      <a:endParaRPr lang="en-US" sz="24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41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dirty="0">
                          <a:solidFill>
                            <a:srgbClr val="FFFF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Reliability</a:t>
                      </a:r>
                      <a:endParaRPr lang="en-US" sz="24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exception handling · input validation</a:t>
                      </a:r>
                      <a:endParaRPr lang="en-US" sz="24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51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dirty="0">
                          <a:solidFill>
                            <a:srgbClr val="FFFF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Storage</a:t>
                      </a:r>
                      <a:endParaRPr lang="en-US" sz="24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in-memory data only</a:t>
                      </a:r>
                      <a:endParaRPr lang="en-US" sz="24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067693"/>
            <a:ext cx="4084238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78" kern="100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CODE ORGANIZATION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1389559"/>
            <a:ext cx="3474653" cy="24532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800" spc="-14" kern="100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The class structure separates interface, logic, models, and errors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9585" y="4144466"/>
            <a:ext cx="3474653" cy="1645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The interface starts the work; the service coordinates it; domain classes carry the data.</a:t>
            </a:r>
            <a:endParaRPr lang="en-US" sz="2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497" y="1841500"/>
            <a:ext cx="5644215" cy="317490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78" kern="100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DATA STRUCTURES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31466"/>
            <a:ext cx="10972526" cy="408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800" spc="-14" kern="100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Each data structure has a focused job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1641971"/>
          <a:ext cx="10972526" cy="914400"/>
        </p:xfrm>
        <a:graphic>
          <a:graphicData uri="http://schemas.openxmlformats.org/drawingml/2006/table">
            <a:tbl>
              <a:tblPr/>
              <a:tblGrid>
                <a:gridCol w="2633398"/>
                <a:gridCol w="8339127"/>
              </a:tblGrid>
              <a:tr h="57128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Structure</a:t>
                      </a:r>
                      <a:endParaRPr lang="en-US" sz="18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Role and fit</a:t>
                      </a:r>
                      <a:endParaRPr lang="en-US" sz="18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128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ArrayList</a:t>
                      </a:r>
                      <a:endParaRPr lang="en-US" sz="18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Suppliers, Purchases, Sales — simple ordered collections</a:t>
                      </a:r>
                      <a:endParaRPr lang="en-US" sz="18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128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LinkedList</a:t>
                      </a:r>
                      <a:endParaRPr lang="en-US" sz="18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Inventory transaction history — efficient sequential history</a:t>
                      </a:r>
                      <a:endParaRPr lang="en-US" sz="18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128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HashMap</a:t>
                      </a:r>
                      <a:endParaRPr lang="en-US" sz="18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Product ID → Product lookup — fast keyed access</a:t>
                      </a:r>
                      <a:endParaRPr lang="en-US" sz="18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128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TreeMap</a:t>
                      </a:r>
                      <a:endParaRPr lang="en-US" sz="18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Sorted products and category totals — maintains sorted keys</a:t>
                      </a:r>
                      <a:endParaRPr lang="en-US" sz="18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223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Arrays</a:t>
                      </a:r>
                      <a:endParaRPr lang="en-US" sz="18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Categories and low-stock thresholds — fixed-size reference values</a:t>
                      </a:r>
                      <a:endParaRPr lang="en-US" sz="18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78" kern="100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EVENT FLOW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31466"/>
            <a:ext cx="10972526" cy="817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800" spc="-14" kern="100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Purchase, sale, and low-stock events update the same inventory flow</a:t>
            </a:r>
            <a:endParaRPr lang="en-US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022277"/>
            <a:ext cx="7450447" cy="419090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78" kern="100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VALIDATION BY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31466"/>
            <a:ext cx="10972526" cy="408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800" spc="-14" kern="100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Features are backed by explicit validation rules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09585" y="1641971"/>
            <a:ext cx="5410065" cy="2207816"/>
          </a:xfrm>
          <a:prstGeom prst="roundRect">
            <a:avLst>
              <a:gd name="adj" fmla="val 5798"/>
            </a:avLst>
          </a:prstGeom>
          <a:solidFill>
            <a:srgbClr val="1E1F6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380" y="1768971"/>
            <a:ext cx="609585" cy="609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87380" y="2556371"/>
            <a:ext cx="5054474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spc="-10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Operations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787380" y="3105646"/>
            <a:ext cx="5054474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Add · update · delete; search by ID, name, category; sort by ID, name, price, quantity.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172046" y="1641971"/>
            <a:ext cx="5410065" cy="2207816"/>
          </a:xfrm>
          <a:prstGeom prst="roundRect">
            <a:avLst>
              <a:gd name="adj" fmla="val 5798"/>
            </a:avLst>
          </a:prstGeom>
          <a:solidFill>
            <a:srgbClr val="1E1F66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9841" y="1768971"/>
            <a:ext cx="609585" cy="609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49841" y="2556371"/>
            <a:ext cx="5054474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spc="-10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Automation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6349841" y="3105646"/>
            <a:ext cx="5054474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Stock tracking · 18% GST billing · low-stock alerts · reports · transaction history.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609585" y="4002187"/>
            <a:ext cx="5410065" cy="2207816"/>
          </a:xfrm>
          <a:prstGeom prst="roundRect">
            <a:avLst>
              <a:gd name="adj" fmla="val 5798"/>
            </a:avLst>
          </a:prstGeom>
          <a:solidFill>
            <a:srgbClr val="1E1F66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380" y="4129187"/>
            <a:ext cx="609585" cy="609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87380" y="4916587"/>
            <a:ext cx="5054474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spc="-10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Identifiers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787380" y="5465862"/>
            <a:ext cx="5054474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Product ID: P + 3–6 digits; Supplier ID: S + 3–6 digits.</a:t>
            </a:r>
            <a:endParaRPr lang="en-US" sz="1800" dirty="0"/>
          </a:p>
        </p:txBody>
      </p:sp>
      <p:sp>
        <p:nvSpPr>
          <p:cNvPr id="16" name="Shape 11"/>
          <p:cNvSpPr/>
          <p:nvPr/>
        </p:nvSpPr>
        <p:spPr>
          <a:xfrm>
            <a:off x="6172046" y="4002187"/>
            <a:ext cx="5410065" cy="2207816"/>
          </a:xfrm>
          <a:prstGeom prst="roundRect">
            <a:avLst>
              <a:gd name="adj" fmla="val 5798"/>
            </a:avLst>
          </a:prstGeom>
          <a:solidFill>
            <a:srgbClr val="1E1F66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9841" y="4129187"/>
            <a:ext cx="609585" cy="6096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349841" y="4916587"/>
            <a:ext cx="5054474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spc="-10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Checks</a:t>
            </a:r>
            <a:endParaRPr lang="en-US" sz="2000" dirty="0"/>
          </a:p>
        </p:txBody>
      </p:sp>
      <p:sp>
        <p:nvSpPr>
          <p:cNvPr id="19" name="Text 13"/>
          <p:cNvSpPr/>
          <p:nvPr/>
        </p:nvSpPr>
        <p:spPr>
          <a:xfrm>
            <a:off x="6349841" y="5465862"/>
            <a:ext cx="5054474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Price &gt; 0 · valid quantity · 10-digit phone · valid email format.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2026-10-03T08:00:31Z</dcterms:created>
  <dcterms:modified xsi:type="dcterms:W3CDTF">2026-10-03T08:00:31Z</dcterms:modified>
</cp:coreProperties>
</file>